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" id="{95C4AC3B-ADD9-71ED-E46C-B7AA5E001CAF}">
          <p14:sldIdLst>
            <p14:sldId id="256"/>
            <p14:sldId id="257"/>
          </p14:sldIdLst>
        </p14:section>
        <p14:section name="Configuració" id="{AF496367-20D5-FA0D-DD76-48ECC54A5919}">
          <p14:sldIdLst>
            <p14:sldId id="258"/>
            <p14:sldId id="259"/>
            <p14:sldId id="260"/>
            <p14:sldId id="261"/>
            <p14:sldId id="262"/>
          </p14:sldIdLst>
        </p14:section>
        <p14:section name="Ús diari" id="{DE3A897F-23D5-F83F-F4EB-F39EC7CA67CF}">
          <p14:sldIdLst>
            <p14:sldId id="263"/>
            <p14:sldId id="264"/>
            <p14:sldId id="265"/>
            <p14:sldId id="266"/>
            <p14:sldId id="267"/>
          </p14:sldIdLst>
        </p14:section>
        <p14:section name="Compartir" id="{354242EC-EC18-C88D-3D28-316BBB7CC84A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94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 breu del planificador. És una pàgina web que s'obri al navegador; les dades queden en un fitxer .json de cada docent.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Aquest és el motiu de l'eina: evitar renumerar a mà cada vegada que es perd una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Ordre recomanat: curs i trimestres, grups, SdA i dies especials. La visita guiada recorre aquests mateixos passos.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franges permeten exportar al calendari amb l'hora exacta, també quan hi ha un pati enmig de dues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l'exemple, VAL A i VAL B segueixen la mateixa programació de Valencià i cadascun avança segons el seu horari.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un grup no té SdA, les sessions es numeren S1, S2, S3 al llarg del curs.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una eixida només afecta alguns grups, no es marca per a tot el centre: s'anul·la la classe en cada grup, amb el motiu.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etiqueta és una sessió d'un grup. Passant el ratolí per damunt es veu el títol de la SdA i el contingut de la sessió.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 del mateix diàleg es pot afegir una classe extra, marcar el dia com a festiu per a tot el centre, posar una avaluació o canviar l'inici o el final d'un trimestre.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fletxes del teclat passen al període anterior o següent; el botó Avui torna a la data 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Útil per a revisar la temporalització de la programació didàctica i per a justificar desviacions.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exportacions respecten el filtre de grups actiu.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mòbil funciona carregant i descarregant el fitxer, perquè els navegadors mòbils no deixen escriure directament en fitxers.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Substitueix USUARI pel nom del compte de GitHub on s'ha publicat. Les propostes de millora es poden enviar com a issues al repositori.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39319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43200"/>
            <a:ext cx="3840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C9D3D8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ING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7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7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bparsa/sessions-cur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Sessions del curs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432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9D3D8"/>
                </a:solidFill>
              </a:rPr>
              <a:t>Planificador de sessions i situacions d'aprenentatge per a docents. Un fitxer HTML, sense comptes ni instal·lacions. Programari lliure.</a:t>
            </a:r>
            <a:endParaRPr lang="en-US" sz="1600" dirty="0"/>
          </a:p>
        </p:txBody>
      </p:sp>
      <p:pic>
        <p:nvPicPr>
          <p:cNvPr id="4" name="Captura portada" descr="Vista mensual del planificad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60120"/>
            <a:ext cx="4206240" cy="2463391"/>
          </a:xfrm>
          <a:prstGeom prst="rect">
            <a:avLst/>
          </a:prstGeom>
          <a:effectLst>
            <a:outerShdw blurRad="101600" dist="38100" dir="5400000" algn="bl" rotWithShape="0">
              <a:srgbClr val="17252C">
                <a:alpha val="22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Un dia sense classe ja no obliga a renumerar</a:t>
            </a:r>
            <a:endParaRPr lang="en-US" sz="2800" dirty="0"/>
          </a:p>
        </p:txBody>
      </p:sp>
      <p:sp>
        <p:nvSpPr>
          <p:cNvPr id="3" name="Entradeta"/>
          <p:cNvSpPr txBox="1"/>
          <p:nvPr/>
        </p:nvSpPr>
        <p:spPr>
          <a:xfrm>
            <a:off x="457200" y="11430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5545A"/>
                </a:solidFill>
              </a:rPr>
              <a:t>Quan planifiquem una SdA en un full de càlcul, cada sessió té un número escrit a mà. Si la sessió 8 no es fa per una eixida, una alerta meteorològica o un festiu que no teníem en compte, cal tornar a numerar totes les següents.</a:t>
            </a:r>
            <a:endParaRPr lang="en-US" sz="1500" dirty="0"/>
          </a:p>
        </p:txBody>
      </p:sp>
      <p:sp>
        <p:nvSpPr>
          <p:cNvPr id="4" name="Punts"/>
          <p:cNvSpPr txBox="1"/>
          <p:nvPr/>
        </p:nvSpPr>
        <p:spPr>
          <a:xfrm>
            <a:off x="457200" y="274320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Indiques l'horari de cada grup i les SdA amb el nombre de sessions.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calendari numera cada sessió sol.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 un dia no es fa classe, totes les sessions es corren.</a:t>
            </a:r>
            <a:endParaRPr lang="en-US" sz="1500" dirty="0"/>
          </a:p>
        </p:txBody>
      </p:sp>
      <p:sp>
        <p:nvSpPr>
          <p:cNvPr id="5" name="Targeta xifra"/>
          <p:cNvSpPr/>
          <p:nvPr/>
        </p:nvSpPr>
        <p:spPr>
          <a:xfrm>
            <a:off x="5212080" y="12344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6" name="Xifra"/>
          <p:cNvSpPr txBox="1"/>
          <p:nvPr/>
        </p:nvSpPr>
        <p:spPr>
          <a:xfrm>
            <a:off x="5394960" y="1554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clics</a:t>
            </a:r>
            <a:endParaRPr lang="en-US" sz="6600" dirty="0"/>
          </a:p>
        </p:txBody>
      </p:sp>
      <p:sp>
        <p:nvSpPr>
          <p:cNvPr id="7" name="Explicació xifra"/>
          <p:cNvSpPr txBox="1"/>
          <p:nvPr/>
        </p:nvSpPr>
        <p:spPr>
          <a:xfrm>
            <a:off x="5486400" y="2788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5545A"/>
                </a:solidFill>
              </a:rPr>
              <a:t>(polsar el dia i baixar la classe a 0) i totes les sessions posteriors es corren soles, amb el final de cada SdA actualitzat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7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Es prepara en quatre passos</a:t>
            </a:r>
            <a:endParaRPr lang="en-US" sz="2800" dirty="0"/>
          </a:p>
        </p:txBody>
      </p:sp>
      <p:sp>
        <p:nvSpPr>
          <p:cNvPr id="3" name="Pas 1"/>
          <p:cNvSpPr/>
          <p:nvPr/>
        </p:nvSpPr>
        <p:spPr>
          <a:xfrm>
            <a:off x="457200" y="1280160"/>
            <a:ext cx="1874520" cy="283464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4" name="Cercle 1"/>
          <p:cNvSpPr/>
          <p:nvPr/>
        </p:nvSpPr>
        <p:spPr>
          <a:xfrm>
            <a:off x="1024128" y="1508760"/>
            <a:ext cx="731520" cy="731520"/>
          </a:xfrm>
          <a:prstGeom prst="ellipse">
            <a:avLst/>
          </a:prstGeom>
          <a:solidFill>
            <a:srgbClr val="3D7BD9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5" name="Número 1"/>
          <p:cNvSpPr txBox="1"/>
          <p:nvPr/>
        </p:nvSpPr>
        <p:spPr>
          <a:xfrm>
            <a:off x="1024128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ítol pas 1"/>
          <p:cNvSpPr txBox="1"/>
          <p:nvPr/>
        </p:nvSpPr>
        <p:spPr>
          <a:xfrm>
            <a:off x="594360" y="2377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</a:t>
            </a:r>
            <a:endParaRPr lang="en-US" sz="2000" dirty="0"/>
          </a:p>
        </p:txBody>
      </p:sp>
      <p:sp>
        <p:nvSpPr>
          <p:cNvPr id="7" name="Text pas 1"/>
          <p:cNvSpPr txBox="1"/>
          <p:nvPr/>
        </p:nvSpPr>
        <p:spPr>
          <a:xfrm>
            <a:off x="594360" y="28346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5545A"/>
                </a:solidFill>
              </a:rPr>
              <a:t>Dates del curs, trimestres i franges horàries del centre</a:t>
            </a:r>
            <a:endParaRPr lang="en-US" sz="1300" dirty="0"/>
          </a:p>
        </p:txBody>
      </p:sp>
      <p:sp>
        <p:nvSpPr>
          <p:cNvPr id="8" name="Pas 2"/>
          <p:cNvSpPr/>
          <p:nvPr/>
        </p:nvSpPr>
        <p:spPr>
          <a:xfrm>
            <a:off x="2560320" y="1280160"/>
            <a:ext cx="1874520" cy="283464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9" name="Cercle 2"/>
          <p:cNvSpPr/>
          <p:nvPr/>
        </p:nvSpPr>
        <p:spPr>
          <a:xfrm>
            <a:off x="3127248" y="1508760"/>
            <a:ext cx="731520" cy="731520"/>
          </a:xfrm>
          <a:prstGeom prst="ellipse">
            <a:avLst/>
          </a:prstGeom>
          <a:solidFill>
            <a:srgbClr val="E39B1B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10" name="Número 2"/>
          <p:cNvSpPr txBox="1"/>
          <p:nvPr/>
        </p:nvSpPr>
        <p:spPr>
          <a:xfrm>
            <a:off x="3127248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ítol pas 2"/>
          <p:cNvSpPr txBox="1"/>
          <p:nvPr/>
        </p:nvSpPr>
        <p:spPr>
          <a:xfrm>
            <a:off x="2697480" y="2377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Grups</a:t>
            </a:r>
            <a:endParaRPr lang="en-US" sz="2000" dirty="0"/>
          </a:p>
        </p:txBody>
      </p:sp>
      <p:sp>
        <p:nvSpPr>
          <p:cNvPr id="12" name="Text pas 2"/>
          <p:cNvSpPr txBox="1"/>
          <p:nvPr/>
        </p:nvSpPr>
        <p:spPr>
          <a:xfrm>
            <a:off x="2697480" y="28346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5545A"/>
                </a:solidFill>
              </a:rPr>
              <a:t>Abreviatura, sessions de cada dia i hora de classe</a:t>
            </a:r>
            <a:endParaRPr lang="en-US" sz="1300" dirty="0"/>
          </a:p>
        </p:txBody>
      </p:sp>
      <p:sp>
        <p:nvSpPr>
          <p:cNvPr id="13" name="Pas 3"/>
          <p:cNvSpPr/>
          <p:nvPr/>
        </p:nvSpPr>
        <p:spPr>
          <a:xfrm>
            <a:off x="4663440" y="1280160"/>
            <a:ext cx="1874520" cy="283464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14" name="Cercle 3"/>
          <p:cNvSpPr/>
          <p:nvPr/>
        </p:nvSpPr>
        <p:spPr>
          <a:xfrm>
            <a:off x="5230368" y="1508760"/>
            <a:ext cx="731520" cy="731520"/>
          </a:xfrm>
          <a:prstGeom prst="ellipse">
            <a:avLst/>
          </a:prstGeom>
          <a:solidFill>
            <a:srgbClr val="3FA45B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15" name="Número 3"/>
          <p:cNvSpPr txBox="1"/>
          <p:nvPr/>
        </p:nvSpPr>
        <p:spPr>
          <a:xfrm>
            <a:off x="5230368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ítol pas 3"/>
          <p:cNvSpPr txBox="1"/>
          <p:nvPr/>
        </p:nvSpPr>
        <p:spPr>
          <a:xfrm>
            <a:off x="4800600" y="2377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SdA</a:t>
            </a:r>
            <a:endParaRPr lang="en-US" sz="2000" dirty="0"/>
          </a:p>
        </p:txBody>
      </p:sp>
      <p:sp>
        <p:nvSpPr>
          <p:cNvPr id="17" name="Text pas 3"/>
          <p:cNvSpPr txBox="1"/>
          <p:nvPr/>
        </p:nvSpPr>
        <p:spPr>
          <a:xfrm>
            <a:off x="4800600" y="28346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5545A"/>
                </a:solidFill>
              </a:rPr>
              <a:t>Títol, nombre de sessions i contingut de cada sessió</a:t>
            </a:r>
            <a:endParaRPr lang="en-US" sz="1300" dirty="0"/>
          </a:p>
        </p:txBody>
      </p:sp>
      <p:sp>
        <p:nvSpPr>
          <p:cNvPr id="18" name="Pas 4"/>
          <p:cNvSpPr/>
          <p:nvPr/>
        </p:nvSpPr>
        <p:spPr>
          <a:xfrm>
            <a:off x="6766560" y="1280160"/>
            <a:ext cx="1874520" cy="283464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19" name="Cercle 4"/>
          <p:cNvSpPr/>
          <p:nvPr/>
        </p:nvSpPr>
        <p:spPr>
          <a:xfrm>
            <a:off x="7333488" y="1508760"/>
            <a:ext cx="731520" cy="731520"/>
          </a:xfrm>
          <a:prstGeom prst="ellipse">
            <a:avLst/>
          </a:prstGeom>
          <a:solidFill>
            <a:srgbClr val="7B4FD0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20" name="Número 4"/>
          <p:cNvSpPr txBox="1"/>
          <p:nvPr/>
        </p:nvSpPr>
        <p:spPr>
          <a:xfrm>
            <a:off x="7333488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ítol pas 4"/>
          <p:cNvSpPr txBox="1"/>
          <p:nvPr/>
        </p:nvSpPr>
        <p:spPr>
          <a:xfrm>
            <a:off x="6903720" y="2377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Dies</a:t>
            </a:r>
            <a:endParaRPr lang="en-US" sz="2000" dirty="0"/>
          </a:p>
        </p:txBody>
      </p:sp>
      <p:sp>
        <p:nvSpPr>
          <p:cNvPr id="22" name="Text pas 4"/>
          <p:cNvSpPr txBox="1"/>
          <p:nvPr/>
        </p:nvSpPr>
        <p:spPr>
          <a:xfrm>
            <a:off x="6903720" y="28346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5545A"/>
                </a:solidFill>
              </a:rPr>
              <a:t>Festius, activitats o imprevistos i avaluacions</a:t>
            </a:r>
            <a:endParaRPr lang="en-US" sz="1300" dirty="0"/>
          </a:p>
        </p:txBody>
      </p:sp>
      <p:sp>
        <p:nvSpPr>
          <p:cNvPr id="23" name="Peu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5545A"/>
                </a:solidFill>
              </a:rPr>
              <a:t>Tot es fa des del botó «Configuració». Després, el calendari es numera sol.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7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1. Curs, trimestres i horari del centre</a:t>
            </a:r>
            <a:endParaRPr lang="en-US" sz="2800" dirty="0"/>
          </a:p>
        </p:txBody>
      </p:sp>
      <p:sp>
        <p:nvSpPr>
          <p:cNvPr id="3" name="Punts"/>
          <p:cNvSpPr txBox="1"/>
          <p:nvPr/>
        </p:nvSpPr>
        <p:spPr>
          <a:xfrm>
            <a:off x="457200" y="114300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Dates del curs: un calendari on tries el primer i l'últim dia.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Cada trimestre té color, nom i dates.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Franges de classe de l'institut (8:00–8:55…): després, en cada grup, l'hora es tria d'un desplegable.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«Comença un curs nou» copia grups i SdA al curs següent.</a:t>
            </a:r>
            <a:endParaRPr lang="en-US" sz="1400" dirty="0"/>
          </a:p>
        </p:txBody>
      </p:sp>
      <p:pic>
        <p:nvPicPr>
          <p:cNvPr id="4" name="Curs i horari del centre" descr="Captura de pantalla: Curs i horari del cent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097280"/>
            <a:ext cx="4892040" cy="2865031"/>
          </a:xfrm>
          <a:prstGeom prst="rect">
            <a:avLst/>
          </a:prstGeom>
          <a:effectLst>
            <a:outerShdw blurRad="101600" dist="38100" dir="5400000" algn="bl" rotWithShape="0">
              <a:srgbClr val="17252C">
                <a:alpha val="22000"/>
              </a:srgbClr>
            </a:outerShdw>
          </a:effectLst>
        </p:spPr>
      </p:pic>
      <p:sp>
        <p:nvSpPr>
          <p:cNvPr id="5" name="Marc Curs i horari del centre"/>
          <p:cNvSpPr/>
          <p:nvPr/>
        </p:nvSpPr>
        <p:spPr>
          <a:xfrm>
            <a:off x="3794760" y="1097280"/>
            <a:ext cx="4892040" cy="2865031"/>
          </a:xfrm>
          <a:prstGeom prst="rect">
            <a:avLst/>
          </a:prstGeom>
          <a:ln w="9525">
            <a:solidFill>
              <a:srgbClr val="CDD5D0"/>
            </a:solidFill>
            <a:prstDash val="solid"/>
          </a:ln>
        </p:spPr>
        <p:txBody>
          <a:bodyPr/>
          <a:lstStyle/>
          <a:p>
            <a:endParaRPr lang="ca-ES-valencia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7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2. Grups</a:t>
            </a:r>
            <a:endParaRPr lang="en-US" sz="2800" dirty="0"/>
          </a:p>
        </p:txBody>
      </p:sp>
      <p:sp>
        <p:nvSpPr>
          <p:cNvPr id="3" name="Punts"/>
          <p:cNvSpPr txBox="1"/>
          <p:nvPr/>
        </p:nvSpPr>
        <p:spPr>
          <a:xfrm>
            <a:off x="457200" y="114300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Abreviatura (VAL A) i nom complet.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Sessions de cada dia de la setmana: Valencià té 3 i el Taller de Reforç, 2.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Hora de cada dia des del desplegable; els dies sense classe queden en gris.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Els grups del mateix nivell comparteixen les SdA: es defineixen una vegada.</a:t>
            </a:r>
            <a:endParaRPr lang="en-US" sz="1400" dirty="0"/>
          </a:p>
        </p:txBody>
      </p:sp>
      <p:pic>
        <p:nvPicPr>
          <p:cNvPr id="4" name="Grups" descr="Captura de pantalla: Gru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097280"/>
            <a:ext cx="4892040" cy="2865031"/>
          </a:xfrm>
          <a:prstGeom prst="rect">
            <a:avLst/>
          </a:prstGeom>
          <a:effectLst>
            <a:outerShdw blurRad="101600" dist="38100" dir="5400000" algn="bl" rotWithShape="0">
              <a:srgbClr val="17252C">
                <a:alpha val="22000"/>
              </a:srgbClr>
            </a:outerShdw>
          </a:effectLst>
        </p:spPr>
      </p:pic>
      <p:sp>
        <p:nvSpPr>
          <p:cNvPr id="5" name="Marc Grups"/>
          <p:cNvSpPr/>
          <p:nvPr/>
        </p:nvSpPr>
        <p:spPr>
          <a:xfrm>
            <a:off x="3794760" y="1097280"/>
            <a:ext cx="4892040" cy="2865031"/>
          </a:xfrm>
          <a:prstGeom prst="rect">
            <a:avLst/>
          </a:prstGeom>
          <a:ln w="9525">
            <a:solidFill>
              <a:srgbClr val="CDD5D0"/>
            </a:solidFill>
            <a:prstDash val="solid"/>
          </a:ln>
        </p:spPr>
        <p:txBody>
          <a:bodyPr/>
          <a:lstStyle/>
          <a:p>
            <a:endParaRPr lang="ca-ES-valencia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7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3. Situacions d'aprenentatge</a:t>
            </a:r>
            <a:endParaRPr lang="en-US" sz="2800" dirty="0"/>
          </a:p>
        </p:txBody>
      </p:sp>
      <p:sp>
        <p:nvSpPr>
          <p:cNvPr id="3" name="Punts"/>
          <p:cNvSpPr txBox="1"/>
          <p:nvPr/>
        </p:nvSpPr>
        <p:spPr>
          <a:xfrm>
            <a:off x="457200" y="114300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Títol i nombre de sessions; l'ordre de la llista és l'ordre en què es fan.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«Comença no abans de»: per a una SdA que ha d'esperar a una data.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Contingut de cada sessió, que després es veu a la vista setmanal.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 costat, quan comença i acaba cada SdA per a cada grup.</a:t>
            </a:r>
            <a:endParaRPr lang="en-US" sz="1400" dirty="0"/>
          </a:p>
        </p:txBody>
      </p:sp>
      <p:pic>
        <p:nvPicPr>
          <p:cNvPr id="4" name="SdA" descr="Captura de pantalla: S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097280"/>
            <a:ext cx="4892040" cy="2865031"/>
          </a:xfrm>
          <a:prstGeom prst="rect">
            <a:avLst/>
          </a:prstGeom>
          <a:effectLst>
            <a:outerShdw blurRad="101600" dist="38100" dir="5400000" algn="bl" rotWithShape="0">
              <a:srgbClr val="17252C">
                <a:alpha val="22000"/>
              </a:srgbClr>
            </a:outerShdw>
          </a:effectLst>
        </p:spPr>
      </p:pic>
      <p:sp>
        <p:nvSpPr>
          <p:cNvPr id="5" name="Marc SdA"/>
          <p:cNvSpPr/>
          <p:nvPr/>
        </p:nvSpPr>
        <p:spPr>
          <a:xfrm>
            <a:off x="3794760" y="1097280"/>
            <a:ext cx="4892040" cy="2865031"/>
          </a:xfrm>
          <a:prstGeom prst="rect">
            <a:avLst/>
          </a:prstGeom>
          <a:ln w="9525">
            <a:solidFill>
              <a:srgbClr val="CDD5D0"/>
            </a:solidFill>
            <a:prstDash val="solid"/>
          </a:ln>
        </p:spPr>
        <p:txBody>
          <a:bodyPr/>
          <a:lstStyle/>
          <a:p>
            <a:endParaRPr lang="ca-ES-valencia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7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4. Dies sense classe i avaluacions</a:t>
            </a:r>
            <a:endParaRPr lang="en-US" sz="2800" dirty="0"/>
          </a:p>
        </p:txBody>
      </p:sp>
      <p:sp>
        <p:nvSpPr>
          <p:cNvPr id="3" name="Color Festiu"/>
          <p:cNvSpPr/>
          <p:nvPr/>
        </p:nvSpPr>
        <p:spPr>
          <a:xfrm>
            <a:off x="457200" y="1188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8352B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4" name="Llegenda Festiu"/>
          <p:cNvSpPr txBox="1"/>
          <p:nvPr/>
        </p:nvSpPr>
        <p:spPr>
          <a:xfrm>
            <a:off x="987552" y="11521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Festiu</a:t>
            </a:r>
            <a:endParaRPr lang="en-US" sz="1600" dirty="0"/>
          </a:p>
        </p:txBody>
      </p:sp>
      <p:sp>
        <p:nvSpPr>
          <p:cNvPr id="5" name="Descripció Festiu"/>
          <p:cNvSpPr txBox="1"/>
          <p:nvPr/>
        </p:nvSpPr>
        <p:spPr>
          <a:xfrm>
            <a:off x="987552" y="15179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5545A"/>
                </a:solidFill>
              </a:rPr>
              <a:t>Falles, Nadal, festes locals. No compta com a classe perduda.</a:t>
            </a:r>
            <a:endParaRPr lang="en-US" sz="1300" dirty="0"/>
          </a:p>
        </p:txBody>
      </p:sp>
      <p:sp>
        <p:nvSpPr>
          <p:cNvPr id="6" name="Color Activitat o imprevist"/>
          <p:cNvSpPr/>
          <p:nvPr/>
        </p:nvSpPr>
        <p:spPr>
          <a:xfrm>
            <a:off x="457200" y="2286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7" name="Llegenda Activitat o imprevist"/>
          <p:cNvSpPr txBox="1"/>
          <p:nvPr/>
        </p:nvSpPr>
        <p:spPr>
          <a:xfrm>
            <a:off x="987552" y="22494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Activitat o imprevist</a:t>
            </a:r>
            <a:endParaRPr lang="en-US" sz="1600" dirty="0"/>
          </a:p>
        </p:txBody>
      </p:sp>
      <p:sp>
        <p:nvSpPr>
          <p:cNvPr id="8" name="Descripció Activitat o imprevist"/>
          <p:cNvSpPr txBox="1"/>
          <p:nvPr/>
        </p:nvSpPr>
        <p:spPr>
          <a:xfrm>
            <a:off x="987552" y="261518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5545A"/>
                </a:solidFill>
              </a:rPr>
              <a:t>Eixides de tot el centre, alertes meteorològiques. Sí que compta.</a:t>
            </a:r>
            <a:endParaRPr lang="en-US" sz="1300" dirty="0"/>
          </a:p>
        </p:txBody>
      </p:sp>
      <p:sp>
        <p:nvSpPr>
          <p:cNvPr id="9" name="Color Avaluació"/>
          <p:cNvSpPr/>
          <p:nvPr/>
        </p:nvSpPr>
        <p:spPr>
          <a:xfrm>
            <a:off x="457200" y="3383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7B4FD0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10" name="Llegenda Avaluació"/>
          <p:cNvSpPr txBox="1"/>
          <p:nvPr/>
        </p:nvSpPr>
        <p:spPr>
          <a:xfrm>
            <a:off x="987552" y="33467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Avaluació</a:t>
            </a:r>
            <a:endParaRPr lang="en-US" sz="1600" dirty="0"/>
          </a:p>
        </p:txBody>
      </p:sp>
      <p:sp>
        <p:nvSpPr>
          <p:cNvPr id="11" name="Descripció Avaluació"/>
          <p:cNvSpPr txBox="1"/>
          <p:nvPr/>
        </p:nvSpPr>
        <p:spPr>
          <a:xfrm>
            <a:off x="987552" y="371246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5545A"/>
                </a:solidFill>
              </a:rPr>
              <a:t>Només canvia el color del dia.</a:t>
            </a:r>
            <a:endParaRPr lang="en-US" sz="1300" dirty="0"/>
          </a:p>
        </p:txBody>
      </p:sp>
      <p:pic>
        <p:nvPicPr>
          <p:cNvPr id="12" name="Dies sense classe" descr="Captura de pantalla: Dies sense clas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097280"/>
            <a:ext cx="4892040" cy="2865031"/>
          </a:xfrm>
          <a:prstGeom prst="rect">
            <a:avLst/>
          </a:prstGeom>
          <a:effectLst>
            <a:outerShdw blurRad="101600" dist="38100" dir="5400000" algn="bl" rotWithShape="0">
              <a:srgbClr val="17252C">
                <a:alpha val="22000"/>
              </a:srgbClr>
            </a:outerShdw>
          </a:effectLst>
        </p:spPr>
      </p:pic>
      <p:sp>
        <p:nvSpPr>
          <p:cNvPr id="13" name="Marc Dies sense classe"/>
          <p:cNvSpPr/>
          <p:nvPr/>
        </p:nvSpPr>
        <p:spPr>
          <a:xfrm>
            <a:off x="3794760" y="1097280"/>
            <a:ext cx="4892040" cy="2865031"/>
          </a:xfrm>
          <a:prstGeom prst="rect">
            <a:avLst/>
          </a:prstGeom>
          <a:ln w="9525">
            <a:solidFill>
              <a:srgbClr val="CDD5D0"/>
            </a:solidFill>
            <a:prstDash val="solid"/>
          </a:ln>
        </p:spPr>
        <p:txBody>
          <a:bodyPr/>
          <a:lstStyle/>
          <a:p>
            <a:endParaRPr lang="ca-ES-valencia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7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Llegir el calendari</a:t>
            </a:r>
            <a:endParaRPr lang="en-US" sz="2800" dirty="0"/>
          </a:p>
        </p:txBody>
      </p:sp>
      <p:pic>
        <p:nvPicPr>
          <p:cNvPr id="3" name="Vista mensual" descr="Captura de pantalla: Vista mensu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669280" cy="3320223"/>
          </a:xfrm>
          <a:prstGeom prst="rect">
            <a:avLst/>
          </a:prstGeom>
          <a:effectLst>
            <a:outerShdw blurRad="101600" dist="38100" dir="5400000" algn="bl" rotWithShape="0">
              <a:srgbClr val="17252C">
                <a:alpha val="22000"/>
              </a:srgbClr>
            </a:outerShdw>
          </a:effectLst>
        </p:spPr>
      </p:pic>
      <p:sp>
        <p:nvSpPr>
          <p:cNvPr id="4" name="Marc Vista mensual"/>
          <p:cNvSpPr/>
          <p:nvPr/>
        </p:nvSpPr>
        <p:spPr>
          <a:xfrm>
            <a:off x="457200" y="1051560"/>
            <a:ext cx="5669280" cy="3320223"/>
          </a:xfrm>
          <a:prstGeom prst="rect">
            <a:avLst/>
          </a:prstGeom>
          <a:ln w="9525">
            <a:solidFill>
              <a:srgbClr val="CDD5D0"/>
            </a:solidFill>
            <a:prstDash val="solid"/>
          </a:ln>
        </p:spPr>
        <p:txBody>
          <a:bodyPr/>
          <a:lstStyle/>
          <a:p>
            <a:endParaRPr lang="ca-ES-valencia"/>
          </a:p>
        </p:txBody>
      </p:sp>
      <p:sp>
        <p:nvSpPr>
          <p:cNvPr id="5" name="Etiqueta d'exemple"/>
          <p:cNvSpPr/>
          <p:nvPr/>
        </p:nvSpPr>
        <p:spPr>
          <a:xfrm>
            <a:off x="6400800" y="118872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8DCCB"/>
          </a:solidFill>
          <a:ln w="12700">
            <a:solidFill>
              <a:srgbClr val="E0662F"/>
            </a:solidFill>
            <a:prstDash val="solid"/>
          </a:ln>
        </p:spPr>
        <p:txBody>
          <a:bodyPr/>
          <a:lstStyle/>
          <a:p>
            <a:endParaRPr lang="ca-ES-valencia"/>
          </a:p>
        </p:txBody>
      </p:sp>
      <p:sp>
        <p:nvSpPr>
          <p:cNvPr id="6" name="Grup d'exemple"/>
          <p:cNvSpPr/>
          <p:nvPr/>
        </p:nvSpPr>
        <p:spPr>
          <a:xfrm>
            <a:off x="6473952" y="1298448"/>
            <a:ext cx="658368" cy="283464"/>
          </a:xfrm>
          <a:prstGeom prst="roundRect">
            <a:avLst>
              <a:gd name="adj" fmla="val 16129"/>
            </a:avLst>
          </a:prstGeom>
          <a:solidFill>
            <a:srgbClr val="B0408A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7" name="Text grup"/>
          <p:cNvSpPr txBox="1"/>
          <p:nvPr/>
        </p:nvSpPr>
        <p:spPr>
          <a:xfrm>
            <a:off x="6473952" y="1298448"/>
            <a:ext cx="658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VAL A</a:t>
            </a:r>
            <a:endParaRPr lang="en-US" sz="1100" dirty="0"/>
          </a:p>
        </p:txBody>
      </p:sp>
      <p:sp>
        <p:nvSpPr>
          <p:cNvPr id="8" name="Text SdA"/>
          <p:cNvSpPr txBox="1"/>
          <p:nvPr/>
        </p:nvSpPr>
        <p:spPr>
          <a:xfrm>
            <a:off x="7205472" y="1261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SdA2 3/12</a:t>
            </a:r>
            <a:endParaRPr lang="en-US" sz="1300" dirty="0"/>
          </a:p>
        </p:txBody>
      </p:sp>
      <p:sp>
        <p:nvSpPr>
          <p:cNvPr id="9" name="Text trimestre"/>
          <p:cNvSpPr txBox="1"/>
          <p:nvPr/>
        </p:nvSpPr>
        <p:spPr>
          <a:xfrm>
            <a:off x="8183880" y="1261872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1"/>
                </a:solidFill>
              </a:rPr>
              <a:t>T12</a:t>
            </a:r>
            <a:endParaRPr lang="en-US" sz="1100" dirty="0"/>
          </a:p>
        </p:txBody>
      </p:sp>
      <p:sp>
        <p:nvSpPr>
          <p:cNvPr id="10" name="Punts"/>
          <p:cNvSpPr txBox="1"/>
          <p:nvPr/>
        </p:nvSpPr>
        <p:spPr>
          <a:xfrm>
            <a:off x="6400800" y="192024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VAL A: el grup.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SdA2 3/12: tercera sessió de 12 de la SdA2.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T12: sessió 12 del trimestre.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Vora gruixuda: última sessió de la SdA.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Fons: trimestre, festiu, imprevist o avaluació.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7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Quan una classe no es fa</a:t>
            </a:r>
            <a:endParaRPr lang="en-US" sz="2800" dirty="0"/>
          </a:p>
        </p:txBody>
      </p:sp>
      <p:sp>
        <p:nvSpPr>
          <p:cNvPr id="3" name="Cercle 1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4" name="Número 1"/>
          <p:cNvSpPr txBox="1"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Pas classe 1"/>
          <p:cNvSpPr txBox="1"/>
          <p:nvPr/>
        </p:nvSpPr>
        <p:spPr>
          <a:xfrm>
            <a:off x="109728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Polsa el dia al calendari</a:t>
            </a:r>
            <a:endParaRPr lang="en-US" sz="1500" dirty="0"/>
          </a:p>
        </p:txBody>
      </p:sp>
      <p:sp>
        <p:nvSpPr>
          <p:cNvPr id="6" name="Cercle 2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7" name="Número 2"/>
          <p:cNvSpPr txBox="1"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Pas classe 2"/>
          <p:cNvSpPr txBox="1"/>
          <p:nvPr/>
        </p:nvSpPr>
        <p:spPr>
          <a:xfrm>
            <a:off x="1097280" y="2286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Baixa les sessions del grup a 0 amb «−»</a:t>
            </a:r>
            <a:endParaRPr lang="en-US" sz="1500" dirty="0"/>
          </a:p>
        </p:txBody>
      </p:sp>
      <p:sp>
        <p:nvSpPr>
          <p:cNvPr id="9" name="Cercle 3"/>
          <p:cNvSpPr/>
          <p:nvPr/>
        </p:nvSpPr>
        <p:spPr>
          <a:xfrm>
            <a:off x="457200" y="33375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10" name="Número 3"/>
          <p:cNvSpPr txBox="1"/>
          <p:nvPr/>
        </p:nvSpPr>
        <p:spPr>
          <a:xfrm>
            <a:off x="45720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Pas classe 3"/>
          <p:cNvSpPr txBox="1"/>
          <p:nvPr/>
        </p:nvSpPr>
        <p:spPr>
          <a:xfrm>
            <a:off x="1097280" y="3337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Escriu el motiu: compta al resum</a:t>
            </a:r>
            <a:endParaRPr lang="en-US" sz="1500" dirty="0"/>
          </a:p>
        </p:txBody>
      </p:sp>
      <p:sp>
        <p:nvSpPr>
          <p:cNvPr id="12" name="Conclusió"/>
          <p:cNvSpPr txBox="1"/>
          <p:nvPr/>
        </p:nvSpPr>
        <p:spPr>
          <a:xfrm>
            <a:off x="45720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Totes les sessions posteriors es corren soles.</a:t>
            </a:r>
            <a:endParaRPr lang="en-US" sz="1400" dirty="0"/>
          </a:p>
        </p:txBody>
      </p:sp>
      <p:pic>
        <p:nvPicPr>
          <p:cNvPr id="13" name="Canviar un dia" descr="Captura de pantalla: Canviar un d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097280"/>
            <a:ext cx="4892040" cy="2865031"/>
          </a:xfrm>
          <a:prstGeom prst="rect">
            <a:avLst/>
          </a:prstGeom>
          <a:effectLst>
            <a:outerShdw blurRad="101600" dist="38100" dir="5400000" algn="bl" rotWithShape="0">
              <a:srgbClr val="17252C">
                <a:alpha val="22000"/>
              </a:srgbClr>
            </a:outerShdw>
          </a:effectLst>
        </p:spPr>
      </p:pic>
      <p:sp>
        <p:nvSpPr>
          <p:cNvPr id="14" name="Marc Canviar un dia"/>
          <p:cNvSpPr/>
          <p:nvPr/>
        </p:nvSpPr>
        <p:spPr>
          <a:xfrm>
            <a:off x="3794760" y="1097280"/>
            <a:ext cx="4892040" cy="2865031"/>
          </a:xfrm>
          <a:prstGeom prst="rect">
            <a:avLst/>
          </a:prstGeom>
          <a:ln w="9525">
            <a:solidFill>
              <a:srgbClr val="CDD5D0"/>
            </a:solidFill>
            <a:prstDash val="solid"/>
          </a:ln>
        </p:spPr>
        <p:txBody>
          <a:bodyPr/>
          <a:lstStyle/>
          <a:p>
            <a:endParaRPr lang="ca-ES-valencia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7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Cinc vistes per a cada moment</a:t>
            </a:r>
            <a:endParaRPr lang="en-US" sz="2800" dirty="0"/>
          </a:p>
        </p:txBody>
      </p:sp>
      <p:pic>
        <p:nvPicPr>
          <p:cNvPr id="3" name="Vista Setmana" descr="Captura de pantalla: Vista Setman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2606040" cy="1526231"/>
          </a:xfrm>
          <a:prstGeom prst="rect">
            <a:avLst/>
          </a:prstGeom>
          <a:effectLst>
            <a:outerShdw blurRad="101600" dist="38100" dir="5400000" algn="bl" rotWithShape="0">
              <a:srgbClr val="17252C">
                <a:alpha val="22000"/>
              </a:srgbClr>
            </a:outerShdw>
          </a:effectLst>
        </p:spPr>
      </p:pic>
      <p:sp>
        <p:nvSpPr>
          <p:cNvPr id="4" name="Marc Vista Setmana"/>
          <p:cNvSpPr/>
          <p:nvPr/>
        </p:nvSpPr>
        <p:spPr>
          <a:xfrm>
            <a:off x="457200" y="1143000"/>
            <a:ext cx="2606040" cy="1526231"/>
          </a:xfrm>
          <a:prstGeom prst="rect">
            <a:avLst/>
          </a:prstGeom>
          <a:ln w="9525">
            <a:solidFill>
              <a:srgbClr val="CDD5D0"/>
            </a:solidFill>
            <a:prstDash val="solid"/>
          </a:ln>
        </p:spPr>
        <p:txBody>
          <a:bodyPr/>
          <a:lstStyle/>
          <a:p>
            <a:endParaRPr lang="ca-ES-valencia"/>
          </a:p>
        </p:txBody>
      </p:sp>
      <p:sp>
        <p:nvSpPr>
          <p:cNvPr id="5" name="Títol vista Setmana"/>
          <p:cNvSpPr txBox="1"/>
          <p:nvPr/>
        </p:nvSpPr>
        <p:spPr>
          <a:xfrm>
            <a:off x="457200" y="2806391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Setmana</a:t>
            </a:r>
            <a:endParaRPr lang="en-US" sz="1700" dirty="0"/>
          </a:p>
        </p:txBody>
      </p:sp>
      <p:sp>
        <p:nvSpPr>
          <p:cNvPr id="6" name="Text vista Setmana"/>
          <p:cNvSpPr txBox="1"/>
          <p:nvPr/>
        </p:nvSpPr>
        <p:spPr>
          <a:xfrm>
            <a:off x="457200" y="3172151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45A"/>
                </a:solidFill>
              </a:rPr>
              <a:t>Horari i contingut de cada sessió</a:t>
            </a:r>
            <a:endParaRPr lang="en-US" sz="1300" dirty="0"/>
          </a:p>
        </p:txBody>
      </p:sp>
      <p:pic>
        <p:nvPicPr>
          <p:cNvPr id="7" name="Vista Trimestre" descr="Captura de pantalla: Vista Trimest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143000"/>
            <a:ext cx="2606040" cy="1526231"/>
          </a:xfrm>
          <a:prstGeom prst="rect">
            <a:avLst/>
          </a:prstGeom>
          <a:effectLst>
            <a:outerShdw blurRad="101600" dist="38100" dir="5400000" algn="bl" rotWithShape="0">
              <a:srgbClr val="17252C">
                <a:alpha val="22000"/>
              </a:srgbClr>
            </a:outerShdw>
          </a:effectLst>
        </p:spPr>
      </p:pic>
      <p:sp>
        <p:nvSpPr>
          <p:cNvPr id="8" name="Marc Vista Trimestre"/>
          <p:cNvSpPr/>
          <p:nvPr/>
        </p:nvSpPr>
        <p:spPr>
          <a:xfrm>
            <a:off x="3264408" y="1143000"/>
            <a:ext cx="2606040" cy="1526231"/>
          </a:xfrm>
          <a:prstGeom prst="rect">
            <a:avLst/>
          </a:prstGeom>
          <a:ln w="9525">
            <a:solidFill>
              <a:srgbClr val="CDD5D0"/>
            </a:solidFill>
            <a:prstDash val="solid"/>
          </a:ln>
        </p:spPr>
        <p:txBody>
          <a:bodyPr/>
          <a:lstStyle/>
          <a:p>
            <a:endParaRPr lang="ca-ES-valencia"/>
          </a:p>
        </p:txBody>
      </p:sp>
      <p:sp>
        <p:nvSpPr>
          <p:cNvPr id="9" name="Títol vista Trimestre"/>
          <p:cNvSpPr txBox="1"/>
          <p:nvPr/>
        </p:nvSpPr>
        <p:spPr>
          <a:xfrm>
            <a:off x="3264408" y="2806391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Trimestre</a:t>
            </a:r>
            <a:endParaRPr lang="en-US" sz="1700" dirty="0"/>
          </a:p>
        </p:txBody>
      </p:sp>
      <p:sp>
        <p:nvSpPr>
          <p:cNvPr id="10" name="Text vista Trimestre"/>
          <p:cNvSpPr txBox="1"/>
          <p:nvPr/>
        </p:nvSpPr>
        <p:spPr>
          <a:xfrm>
            <a:off x="3264408" y="3172151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45A"/>
                </a:solidFill>
              </a:rPr>
              <a:t>Tots els mesos del trimestre</a:t>
            </a:r>
            <a:endParaRPr lang="en-US" sz="1300" dirty="0"/>
          </a:p>
        </p:txBody>
      </p:sp>
      <p:pic>
        <p:nvPicPr>
          <p:cNvPr id="11" name="Vista Curs" descr="Captura de pantalla: Vista Cu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616" y="1143000"/>
            <a:ext cx="2606040" cy="1526231"/>
          </a:xfrm>
          <a:prstGeom prst="rect">
            <a:avLst/>
          </a:prstGeom>
          <a:effectLst>
            <a:outerShdw blurRad="101600" dist="38100" dir="5400000" algn="bl" rotWithShape="0">
              <a:srgbClr val="17252C">
                <a:alpha val="22000"/>
              </a:srgbClr>
            </a:outerShdw>
          </a:effectLst>
        </p:spPr>
      </p:pic>
      <p:sp>
        <p:nvSpPr>
          <p:cNvPr id="12" name="Marc Vista Curs"/>
          <p:cNvSpPr/>
          <p:nvPr/>
        </p:nvSpPr>
        <p:spPr>
          <a:xfrm>
            <a:off x="6071616" y="1143000"/>
            <a:ext cx="2606040" cy="1526231"/>
          </a:xfrm>
          <a:prstGeom prst="rect">
            <a:avLst/>
          </a:prstGeom>
          <a:ln w="9525">
            <a:solidFill>
              <a:srgbClr val="CDD5D0"/>
            </a:solidFill>
            <a:prstDash val="solid"/>
          </a:ln>
        </p:spPr>
        <p:txBody>
          <a:bodyPr/>
          <a:lstStyle/>
          <a:p>
            <a:endParaRPr lang="ca-ES-valencia"/>
          </a:p>
        </p:txBody>
      </p:sp>
      <p:sp>
        <p:nvSpPr>
          <p:cNvPr id="13" name="Títol vista Curs"/>
          <p:cNvSpPr txBox="1"/>
          <p:nvPr/>
        </p:nvSpPr>
        <p:spPr>
          <a:xfrm>
            <a:off x="6071616" y="2806391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</a:t>
            </a:r>
            <a:endParaRPr lang="en-US" sz="1700" dirty="0"/>
          </a:p>
        </p:txBody>
      </p:sp>
      <p:sp>
        <p:nvSpPr>
          <p:cNvPr id="14" name="Text vista Curs"/>
          <p:cNvSpPr txBox="1"/>
          <p:nvPr/>
        </p:nvSpPr>
        <p:spPr>
          <a:xfrm>
            <a:off x="6071616" y="3172151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45A"/>
                </a:solidFill>
              </a:rPr>
              <a:t>Tot el curs d'un colp d'ull</a:t>
            </a:r>
            <a:endParaRPr lang="en-US" sz="1300" dirty="0"/>
          </a:p>
        </p:txBody>
      </p:sp>
      <p:sp>
        <p:nvSpPr>
          <p:cNvPr id="15" name="Altres vistes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5545A"/>
                </a:solidFill>
              </a:rPr>
              <a:t>A més, mes i dos mesos. Es filtra per un o diversos grups.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7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El resum de cada grup</a:t>
            </a:r>
            <a:endParaRPr lang="en-US" sz="2800" dirty="0"/>
          </a:p>
        </p:txBody>
      </p:sp>
      <p:sp>
        <p:nvSpPr>
          <p:cNvPr id="3" name="Punts"/>
          <p:cNvSpPr txBox="1"/>
          <p:nvPr/>
        </p:nvSpPr>
        <p:spPr>
          <a:xfrm>
            <a:off x="457200" y="114300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Sessions de cada trimestre i del curs.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 sobren o falten sessions per a les SdA previstes.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Quan comença i acaba cada SdA.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Classes no fetes, separades per motiu.</a:t>
            </a:r>
            <a:endParaRPr lang="en-US" sz="1500" dirty="0"/>
          </a:p>
        </p:txBody>
      </p:sp>
      <p:pic>
        <p:nvPicPr>
          <p:cNvPr id="4" name="Resum" descr="Captura de pantalla: Resu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097280"/>
            <a:ext cx="4892040" cy="2865031"/>
          </a:xfrm>
          <a:prstGeom prst="rect">
            <a:avLst/>
          </a:prstGeom>
          <a:effectLst>
            <a:outerShdw blurRad="101600" dist="38100" dir="5400000" algn="bl" rotWithShape="0">
              <a:srgbClr val="17252C">
                <a:alpha val="22000"/>
              </a:srgbClr>
            </a:outerShdw>
          </a:effectLst>
        </p:spPr>
      </p:pic>
      <p:sp>
        <p:nvSpPr>
          <p:cNvPr id="5" name="Marc Resum"/>
          <p:cNvSpPr/>
          <p:nvPr/>
        </p:nvSpPr>
        <p:spPr>
          <a:xfrm>
            <a:off x="3794760" y="1097280"/>
            <a:ext cx="4892040" cy="2865031"/>
          </a:xfrm>
          <a:prstGeom prst="rect">
            <a:avLst/>
          </a:prstGeom>
          <a:ln w="9525">
            <a:solidFill>
              <a:srgbClr val="CDD5D0"/>
            </a:solidFill>
            <a:prstDash val="solid"/>
          </a:ln>
        </p:spPr>
        <p:txBody>
          <a:bodyPr/>
          <a:lstStyle/>
          <a:p>
            <a:endParaRPr lang="ca-ES-valencia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7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Exportar, imprimir i no perdre res</a:t>
            </a:r>
            <a:endParaRPr lang="en-US" sz="2800" dirty="0"/>
          </a:p>
        </p:txBody>
      </p:sp>
      <p:sp>
        <p:nvSpPr>
          <p:cNvPr id="3" name="Punts"/>
          <p:cNvSpPr txBox="1"/>
          <p:nvPr/>
        </p:nvSpPr>
        <p:spPr>
          <a:xfrm>
            <a:off x="457200" y="114300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Temporalització en full de càlcul per a la programació didàctica.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Calendari .ics o .csv per a Google Calendar o Outlook.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Impressió amb fons blanc, amb resum o sense.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Desfer i refer (Ctrl+Z), i còpies de seguretat dins del fitxer.</a:t>
            </a:r>
            <a:endParaRPr lang="en-US" sz="1400" dirty="0"/>
          </a:p>
        </p:txBody>
      </p:sp>
      <p:pic>
        <p:nvPicPr>
          <p:cNvPr id="4" name="Exportar" descr="Captura de pantalla: Export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097280"/>
            <a:ext cx="4892040" cy="2865031"/>
          </a:xfrm>
          <a:prstGeom prst="rect">
            <a:avLst/>
          </a:prstGeom>
          <a:effectLst>
            <a:outerShdw blurRad="101600" dist="38100" dir="5400000" algn="bl" rotWithShape="0">
              <a:srgbClr val="17252C">
                <a:alpha val="22000"/>
              </a:srgbClr>
            </a:outerShdw>
          </a:effectLst>
        </p:spPr>
      </p:pic>
      <p:sp>
        <p:nvSpPr>
          <p:cNvPr id="5" name="Marc Exportar"/>
          <p:cNvSpPr/>
          <p:nvPr/>
        </p:nvSpPr>
        <p:spPr>
          <a:xfrm>
            <a:off x="3794760" y="1097280"/>
            <a:ext cx="4892040" cy="2865031"/>
          </a:xfrm>
          <a:prstGeom prst="rect">
            <a:avLst/>
          </a:prstGeom>
          <a:ln w="9525">
            <a:solidFill>
              <a:srgbClr val="CDD5D0"/>
            </a:solidFill>
            <a:prstDash val="solid"/>
          </a:ln>
        </p:spPr>
        <p:txBody>
          <a:bodyPr/>
          <a:lstStyle/>
          <a:p>
            <a:endParaRPr lang="ca-ES-valencia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7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Les dades són teues</a:t>
            </a:r>
            <a:endParaRPr lang="en-US" sz="2800" dirty="0"/>
          </a:p>
        </p:txBody>
      </p:sp>
      <p:sp>
        <p:nvSpPr>
          <p:cNvPr id="3" name="Targeta Un fitxer .json"/>
          <p:cNvSpPr/>
          <p:nvPr/>
        </p:nvSpPr>
        <p:spPr>
          <a:xfrm>
            <a:off x="457200" y="1234440"/>
            <a:ext cx="26060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4" name="Cercle 1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22466A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5" name="Número 1"/>
          <p:cNvSpPr txBox="1"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ítol Un fitxer .json"/>
          <p:cNvSpPr txBox="1"/>
          <p:nvPr/>
        </p:nvSpPr>
        <p:spPr>
          <a:xfrm>
            <a:off x="68580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fitxer .json</a:t>
            </a:r>
            <a:endParaRPr lang="en-US" sz="1800" dirty="0"/>
          </a:p>
        </p:txBody>
      </p:sp>
      <p:sp>
        <p:nvSpPr>
          <p:cNvPr id="7" name="Text Un fitxer .json"/>
          <p:cNvSpPr txBox="1"/>
          <p:nvPr/>
        </p:nvSpPr>
        <p:spPr>
          <a:xfrm>
            <a:off x="685800" y="2514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5545A"/>
                </a:solidFill>
              </a:rPr>
              <a:t>Tot es guarda en un fitxer que tries tu. La pàgina no envia res a cap servidor.</a:t>
            </a:r>
            <a:endParaRPr lang="en-US" sz="1300" dirty="0"/>
          </a:p>
        </p:txBody>
      </p:sp>
      <p:sp>
        <p:nvSpPr>
          <p:cNvPr id="8" name="Targeta Sense comptes"/>
          <p:cNvSpPr/>
          <p:nvPr/>
        </p:nvSpPr>
        <p:spPr>
          <a:xfrm>
            <a:off x="3246120" y="1234440"/>
            <a:ext cx="26060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9" name="Cercle 2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10" name="Número 2"/>
          <p:cNvSpPr txBox="1"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ítol Sense comptes"/>
          <p:cNvSpPr txBox="1"/>
          <p:nvPr/>
        </p:nvSpPr>
        <p:spPr>
          <a:xfrm>
            <a:off x="347472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 comptes</a:t>
            </a:r>
            <a:endParaRPr lang="en-US" sz="1800" dirty="0"/>
          </a:p>
        </p:txBody>
      </p:sp>
      <p:sp>
        <p:nvSpPr>
          <p:cNvPr id="12" name="Text Sense comptes"/>
          <p:cNvSpPr txBox="1"/>
          <p:nvPr/>
        </p:nvSpPr>
        <p:spPr>
          <a:xfrm>
            <a:off x="3474720" y="2514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5545A"/>
                </a:solidFill>
              </a:rPr>
              <a:t>No cal registrar-se. Amb Chrome o Edge es desa sol; amb altres navegadors, es carrega i es descarrega.</a:t>
            </a:r>
            <a:endParaRPr lang="en-US" sz="1300" dirty="0"/>
          </a:p>
        </p:txBody>
      </p:sp>
      <p:sp>
        <p:nvSpPr>
          <p:cNvPr id="13" name="Targeta En equip"/>
          <p:cNvSpPr/>
          <p:nvPr/>
        </p:nvSpPr>
        <p:spPr>
          <a:xfrm>
            <a:off x="6035040" y="1234440"/>
            <a:ext cx="26060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14" name="Cercle 3"/>
          <p:cNvSpPr/>
          <p:nvPr/>
        </p:nvSpPr>
        <p:spPr>
          <a:xfrm>
            <a:off x="6263640" y="1463040"/>
            <a:ext cx="457200" cy="457200"/>
          </a:xfrm>
          <a:prstGeom prst="ellipse">
            <a:avLst/>
          </a:prstGeom>
          <a:solidFill>
            <a:srgbClr val="5B3F8C"/>
          </a:solidFill>
          <a:ln/>
        </p:spPr>
        <p:txBody>
          <a:bodyPr/>
          <a:lstStyle/>
          <a:p>
            <a:endParaRPr lang="ca-ES-valencia"/>
          </a:p>
        </p:txBody>
      </p:sp>
      <p:sp>
        <p:nvSpPr>
          <p:cNvPr id="15" name="Número 3"/>
          <p:cNvSpPr txBox="1"/>
          <p:nvPr/>
        </p:nvSpPr>
        <p:spPr>
          <a:xfrm>
            <a:off x="6263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ítol En equip"/>
          <p:cNvSpPr txBox="1"/>
          <p:nvPr/>
        </p:nvSpPr>
        <p:spPr>
          <a:xfrm>
            <a:off x="626364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equip</a:t>
            </a:r>
            <a:endParaRPr lang="en-US" sz="1800" dirty="0"/>
          </a:p>
        </p:txBody>
      </p:sp>
      <p:sp>
        <p:nvSpPr>
          <p:cNvPr id="17" name="Text En equip"/>
          <p:cNvSpPr txBox="1"/>
          <p:nvPr/>
        </p:nvSpPr>
        <p:spPr>
          <a:xfrm>
            <a:off x="6263640" y="2514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5545A"/>
                </a:solidFill>
              </a:rPr>
              <a:t>En una carpeta d'OneDrive o Drive compartida, un fitxer per docent. Si dos editeu el mateix fitxer, avisa abans de sobreescriure.</a:t>
            </a:r>
            <a:endParaRPr lang="en-US" sz="1300" dirty="0"/>
          </a:p>
        </p:txBody>
      </p:sp>
      <p:sp>
        <p:nvSpPr>
          <p:cNvPr id="18" name="Recomanació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5545A"/>
                </a:solidFill>
              </a:rPr>
              <a:t>Recomanació: guardar el fitxer en una carpeta sincronitzada per a tindre'l en tots els ordinadors.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7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Prova-ho amb la visita guiada</a:t>
            </a:r>
            <a:endParaRPr lang="en-US" sz="2800" dirty="0"/>
          </a:p>
        </p:txBody>
      </p:sp>
      <p:sp>
        <p:nvSpPr>
          <p:cNvPr id="3" name="Punts"/>
          <p:cNvSpPr txBox="1"/>
          <p:nvPr/>
        </p:nvSpPr>
        <p:spPr>
          <a:xfrm>
            <a:off x="457200" y="114300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Botó «?»: recorregut pas a pas amb un planificador d'exemple.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toca el teu fitxer.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Codi i manual: </a:t>
            </a:r>
            <a:r>
              <a:rPr lang="en-US" sz="1400" dirty="0">
                <a:solidFill>
                  <a:schemeClr val="tx1"/>
                </a:solidFill>
                <a:hlinkClick r:id="rId3"/>
              </a:rPr>
              <a:t>github.com/</a:t>
            </a:r>
            <a:r>
              <a:rPr lang="en-US" sz="1400" dirty="0" err="1">
                <a:solidFill>
                  <a:schemeClr val="tx1"/>
                </a:solidFill>
                <a:hlinkClick r:id="rId3"/>
              </a:rPr>
              <a:t>rubparsa</a:t>
            </a:r>
            <a:r>
              <a:rPr lang="en-US" sz="1400" dirty="0">
                <a:solidFill>
                  <a:schemeClr val="tx1"/>
                </a:solidFill>
                <a:hlinkClick r:id="rId3"/>
              </a:rPr>
              <a:t>/sessions-curs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Programari lliure (GPL v3): es pot millorar i compartir.</a:t>
            </a:r>
            <a:endParaRPr lang="en-US" sz="1400" dirty="0"/>
          </a:p>
        </p:txBody>
      </p:sp>
      <p:pic>
        <p:nvPicPr>
          <p:cNvPr id="4" name="Visita guiada" descr="Captura de pantalla: Visita guiad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1097280"/>
            <a:ext cx="4892040" cy="2865031"/>
          </a:xfrm>
          <a:prstGeom prst="rect">
            <a:avLst/>
          </a:prstGeom>
          <a:effectLst>
            <a:outerShdw blurRad="101600" dist="38100" dir="5400000" algn="bl" rotWithShape="0">
              <a:srgbClr val="17252C">
                <a:alpha val="22000"/>
              </a:srgbClr>
            </a:outerShdw>
          </a:effectLst>
        </p:spPr>
      </p:pic>
      <p:sp>
        <p:nvSpPr>
          <p:cNvPr id="5" name="Marc Visita guiada"/>
          <p:cNvSpPr/>
          <p:nvPr/>
        </p:nvSpPr>
        <p:spPr>
          <a:xfrm>
            <a:off x="3794760" y="1097280"/>
            <a:ext cx="4892040" cy="2865031"/>
          </a:xfrm>
          <a:prstGeom prst="rect">
            <a:avLst/>
          </a:prstGeom>
          <a:ln w="9525">
            <a:solidFill>
              <a:srgbClr val="CDD5D0"/>
            </a:solidFill>
            <a:prstDash val="solid"/>
          </a:ln>
        </p:spPr>
        <p:txBody>
          <a:bodyPr/>
          <a:lstStyle/>
          <a:p>
            <a:endParaRPr lang="ca-ES-valencia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7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ssions del curs">
  <a:themeElements>
    <a:clrScheme name="Sessions del curs">
      <a:dk1>
        <a:srgbClr val="17252C"/>
      </a:dk1>
      <a:lt1>
        <a:srgbClr val="FFFFFF"/>
      </a:lt1>
      <a:dk2>
        <a:srgbClr val="22466A"/>
      </a:dk2>
      <a:lt2>
        <a:srgbClr val="EEF1ED"/>
      </a:lt2>
      <a:accent1>
        <a:srgbClr val="3D7BD9"/>
      </a:accent1>
      <a:accent2>
        <a:srgbClr val="E39B1B"/>
      </a:accent2>
      <a:accent3>
        <a:srgbClr val="3FA45B"/>
      </a:accent3>
      <a:accent4>
        <a:srgbClr val="C8352B"/>
      </a:accent4>
      <a:accent5>
        <a:srgbClr val="7B4FD0"/>
      </a:accent5>
      <a:accent6>
        <a:srgbClr val="C25E00"/>
      </a:accent6>
      <a:hlink>
        <a:srgbClr val="22466A"/>
      </a:hlink>
      <a:folHlink>
        <a:srgbClr val="5B3F8C"/>
      </a:folHlink>
    </a:clrScheme>
    <a:fontScheme name="Sessions del cu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l'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1168</Words>
  <Application>Microsoft Office PowerPoint</Application>
  <PresentationFormat>Presentació en pantalla (16:9)</PresentationFormat>
  <Paragraphs>137</Paragraphs>
  <Slides>14</Slides>
  <Notes>14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3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Sessions del curs</vt:lpstr>
      <vt:lpstr>Sessions del curs</vt:lpstr>
      <vt:lpstr>Un dia sense classe ja no obliga a renumerar</vt:lpstr>
      <vt:lpstr>Es prepara en quatre passos</vt:lpstr>
      <vt:lpstr>1. Curs, trimestres i horari del centre</vt:lpstr>
      <vt:lpstr>2. Grups</vt:lpstr>
      <vt:lpstr>3. Situacions d'aprenentatge</vt:lpstr>
      <vt:lpstr>4. Dies sense classe i avaluacions</vt:lpstr>
      <vt:lpstr>Llegir el calendari</vt:lpstr>
      <vt:lpstr>Quan una classe no es fa</vt:lpstr>
      <vt:lpstr>Cinc vistes per a cada moment</vt:lpstr>
      <vt:lpstr>El resum de cada grup</vt:lpstr>
      <vt:lpstr>Exportar, imprimir i no perdre res</vt:lpstr>
      <vt:lpstr>Les dades són teues</vt:lpstr>
      <vt:lpstr>Prova-ho amb la visita guiada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Sessions del curs</dc:title>
  <dc:subject>PptxGenJS Presentation</dc:subject>
  <dc:creator>Rubén Parra Savall</dc:creator>
  <cp:lastModifiedBy>PARRA SAVALL, RUBEN</cp:lastModifiedBy>
  <cp:revision>2</cp:revision>
  <dcterms:created xsi:type="dcterms:W3CDTF">2026-10-05T15:09:52Z</dcterms:created>
  <dcterms:modified xsi:type="dcterms:W3CDTF">2026-10-05T15:33:44Z</dcterms:modified>
</cp:coreProperties>
</file>